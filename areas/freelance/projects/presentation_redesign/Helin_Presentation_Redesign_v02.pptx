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DDE6B8"/>
                </a:solidFill>
                <a:latin typeface="DejaVu Sans"/>
              </a:defRPr>
            </a:pPr>
            <a:r>
              <a:t>PRESENTATION REDESIGN + COPY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DDE6B8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DDE6B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97000"/>
            <a:ext cx="10795000" cy="17703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900">
                <a:solidFill>
                  <a:srgbClr val="F4F0E7"/>
                </a:solidFill>
                <a:latin typeface="DejaVu Serif"/>
              </a:defRPr>
            </a:pPr>
            <a:r>
              <a:t>Clearer slides.</a:t>
            </a:r>
          </a:p>
          <a:p>
            <a:pPr>
              <a:defRPr b="0" sz="4900">
                <a:solidFill>
                  <a:srgbClr val="F4F0E7"/>
                </a:solidFill>
                <a:latin typeface="DejaVu Serif"/>
              </a:defRPr>
            </a:pPr>
            <a:r>
              <a:t>Stronger messaging.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619500"/>
            <a:ext cx="1270000" cy="50800"/>
          </a:xfrm>
          <a:prstGeom prst="rect">
            <a:avLst/>
          </a:prstGeom>
          <a:solidFill>
            <a:srgbClr val="DDE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102099"/>
            <a:ext cx="10795000" cy="532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2300">
                <a:solidFill>
                  <a:srgbClr val="F4F0E7"/>
                </a:solidFill>
                <a:latin typeface="DejaVu Sans"/>
              </a:defRPr>
            </a:pPr>
            <a:r>
              <a:t>Corporate gifting &amp; hospitality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24400"/>
            <a:ext cx="10795000" cy="680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600">
                <a:solidFill>
                  <a:srgbClr val="DDE6B8"/>
                </a:solidFill>
                <a:latin typeface="DejaVu Sans"/>
              </a:defRPr>
            </a:pPr>
            <a:r>
              <a:t>Three before-and-after transformations</a:t>
            </a:r>
          </a:p>
          <a:p>
            <a:pPr>
              <a:defRPr b="0" sz="1600">
                <a:solidFill>
                  <a:srgbClr val="DDE6B8"/>
                </a:solidFill>
                <a:latin typeface="DejaVu Sans"/>
              </a:defRPr>
            </a:pPr>
            <a:r>
              <a:t>Message clarity · Visual hierarchy · Reader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778500"/>
            <a:ext cx="1079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F4F0E7"/>
                </a:solidFill>
                <a:latin typeface="DejaVu Sans"/>
              </a:defRPr>
            </a:pPr>
            <a:r>
              <a:t>Independent concept exercise. No client commission or performance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5D6851"/>
                </a:solidFill>
                <a:latin typeface="DejaVu Sans"/>
              </a:defRPr>
            </a:pPr>
            <a:r>
              <a:t>01 / BEFORE — SIMULATED SOURCE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697066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697066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1176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485900"/>
            <a:ext cx="106680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2600">
                <a:solidFill>
                  <a:srgbClr val="242A24"/>
                </a:solidFill>
                <a:latin typeface="DejaVu Sans"/>
              </a:defRPr>
            </a:pPr>
            <a:r>
              <a:t>Corporate food and beverage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501900"/>
            <a:ext cx="10033000" cy="1242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Our company provides food and beverage packages to corporate</a:t>
            </a:r>
          </a:p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companies for different special days and celebrations and can help</a:t>
            </a:r>
          </a:p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with various things depending on what the company wants.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56300"/>
            <a:ext cx="10668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242A24"/>
                </a:solidFill>
                <a:latin typeface="DejaVu Sans"/>
              </a:defRPr>
            </a:pPr>
            <a:r>
              <a:t>Illustrative draft created for this comparison; not a client-supplied original.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5D6851"/>
                </a:solidFill>
                <a:latin typeface="DejaVu Sans"/>
              </a:defRPr>
            </a:pPr>
            <a:r>
              <a:t>01 / AFTER — A CLEARER VALUE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697066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697066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5700"/>
            <a:ext cx="10922000" cy="1308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3500">
                <a:solidFill>
                  <a:srgbClr val="242A24"/>
                </a:solidFill>
                <a:latin typeface="DejaVu Serif"/>
              </a:defRPr>
            </a:pPr>
            <a:r>
              <a:t>Thoughtful food &amp; beverage</a:t>
            </a:r>
          </a:p>
          <a:p>
            <a:pPr>
              <a:defRPr b="0" sz="3500">
                <a:solidFill>
                  <a:srgbClr val="242A24"/>
                </a:solidFill>
                <a:latin typeface="DejaVu Serif"/>
              </a:defRPr>
            </a:pPr>
            <a:r>
              <a:t>packages for corporate occasions.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28900"/>
            <a:ext cx="106680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5D6851"/>
                </a:solidFill>
                <a:latin typeface="DejaVu Sans"/>
              </a:defRPr>
            </a:pPr>
            <a:r>
              <a:t>A clear occasion. A considered package.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606800"/>
            <a:ext cx="3479800" cy="1993899"/>
          </a:xfrm>
          <a:prstGeom prst="rect">
            <a:avLst/>
          </a:prstGeom>
          <a:solidFill>
            <a:srgbClr val="E6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810000"/>
            <a:ext cx="27940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5D6851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4292600"/>
            <a:ext cx="2984500" cy="449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242A24"/>
                </a:solidFill>
                <a:latin typeface="DejaVu Sans"/>
              </a:defRPr>
            </a:pPr>
            <a:r>
              <a:t>Team celebrations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4826000"/>
            <a:ext cx="29845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Mark shared moments.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3606800"/>
            <a:ext cx="3479800" cy="1993899"/>
          </a:xfrm>
          <a:prstGeom prst="rect">
            <a:avLst/>
          </a:prstGeom>
          <a:solidFill>
            <a:srgbClr val="E6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0100" y="3810000"/>
            <a:ext cx="27940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5D6851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292600"/>
            <a:ext cx="2984500" cy="449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242A24"/>
                </a:solidFill>
                <a:latin typeface="DejaVu Sans"/>
              </a:defRPr>
            </a:pPr>
            <a:r>
              <a:t>Seasonal gifting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826000"/>
            <a:ext cx="29845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Make the occasion feel personal.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2600" y="3606800"/>
            <a:ext cx="3479800" cy="1993899"/>
          </a:xfrm>
          <a:prstGeom prst="rect">
            <a:avLst/>
          </a:prstGeom>
          <a:solidFill>
            <a:srgbClr val="E6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600" y="3810000"/>
            <a:ext cx="27940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5D6851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4292600"/>
            <a:ext cx="2984500" cy="449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242A24"/>
                </a:solidFill>
                <a:latin typeface="DejaVu Sans"/>
              </a:defRPr>
            </a:pPr>
            <a:r>
              <a:t>Client appreciation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4826000"/>
            <a:ext cx="29845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Express thanks with care.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30900"/>
            <a:ext cx="10668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242A24"/>
                </a:solidFill>
                <a:latin typeface="DejaVu Sans"/>
              </a:defRPr>
            </a:pPr>
            <a:r>
              <a:t>EDIT: Replaced a long description with a value statement and three use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5D6851"/>
                </a:solidFill>
                <a:latin typeface="DejaVu Sans"/>
              </a:defRPr>
            </a:pPr>
            <a:r>
              <a:t>02 / BEFORE — SIMULATED SOURCE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697066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697066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1176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485900"/>
            <a:ext cx="106680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2600">
                <a:solidFill>
                  <a:srgbClr val="242A24"/>
                </a:solidFill>
                <a:latin typeface="DejaVu Sans"/>
              </a:defRPr>
            </a:pPr>
            <a:r>
              <a:t>How our service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501900"/>
            <a:ext cx="10033000" cy="1242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We talk to the company to find out what they want, then arrange the</a:t>
            </a:r>
          </a:p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products and other details and follow up to make sure everything has</a:t>
            </a:r>
          </a:p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been agreed.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56300"/>
            <a:ext cx="10668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242A24"/>
                </a:solidFill>
                <a:latin typeface="DejaVu Sans"/>
              </a:defRPr>
            </a:pPr>
            <a:r>
              <a:t>Illustrative draft created for this comparison; not a client-supplied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5D6851"/>
                </a:solidFill>
                <a:latin typeface="DejaVu Sans"/>
              </a:defRPr>
            </a:pPr>
            <a:r>
              <a:t>02 / AFTER — A STRUCTURED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697066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697066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93800"/>
            <a:ext cx="10922000" cy="746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3600">
                <a:solidFill>
                  <a:srgbClr val="242A24"/>
                </a:solidFill>
                <a:latin typeface="DejaVu Serif"/>
              </a:defRPr>
            </a:pPr>
            <a:r>
              <a:t>From brief to coordinated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57400"/>
            <a:ext cx="106680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5D6851"/>
                </a:solidFill>
                <a:latin typeface="DejaVu Sans"/>
              </a:defRPr>
            </a:pPr>
            <a:r>
              <a:t>Make the process easy to scan, understand and discuss.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022600"/>
            <a:ext cx="3479800" cy="2514600"/>
          </a:xfrm>
          <a:prstGeom prst="rect">
            <a:avLst/>
          </a:prstGeom>
          <a:solidFill>
            <a:srgbClr val="E6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162300"/>
            <a:ext cx="2857500" cy="845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200">
                <a:solidFill>
                  <a:srgbClr val="242A24"/>
                </a:solidFill>
                <a:latin typeface="DejaVu Serif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4076699"/>
            <a:ext cx="29972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242A24"/>
                </a:solidFill>
                <a:latin typeface="DejaVu Sans"/>
              </a:defRPr>
            </a:pPr>
            <a:r>
              <a:t>Define the occasion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4610100"/>
            <a:ext cx="29972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Confirm audience,</a:t>
            </a:r>
          </a:p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budget and timing.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3022600"/>
            <a:ext cx="3479800" cy="2514600"/>
          </a:xfrm>
          <a:prstGeom prst="rect">
            <a:avLst/>
          </a:prstGeom>
          <a:solidFill>
            <a:srgbClr val="5D6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0100" y="3162300"/>
            <a:ext cx="2857500" cy="845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200">
                <a:solidFill>
                  <a:srgbClr val="F4F0E7"/>
                </a:solidFill>
                <a:latin typeface="DejaVu Serif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076699"/>
            <a:ext cx="29972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F4F0E7"/>
                </a:solidFill>
                <a:latin typeface="DejaVu Sans"/>
              </a:defRPr>
            </a:pPr>
            <a:r>
              <a:t>Shape the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610100"/>
            <a:ext cx="29972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F4F0E7"/>
                </a:solidFill>
                <a:latin typeface="DejaVu Sans"/>
              </a:defRPr>
            </a:pPr>
            <a:r>
              <a:t>Align products, presentation</a:t>
            </a:r>
          </a:p>
          <a:p>
            <a:pPr>
              <a:defRPr b="0" sz="1300">
                <a:solidFill>
                  <a:srgbClr val="F4F0E7"/>
                </a:solidFill>
                <a:latin typeface="DejaVu Sans"/>
              </a:defRPr>
            </a:pPr>
            <a:r>
              <a:t>and practical details.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2600" y="3022600"/>
            <a:ext cx="3479800" cy="2514600"/>
          </a:xfrm>
          <a:prstGeom prst="rect">
            <a:avLst/>
          </a:prstGeom>
          <a:solidFill>
            <a:srgbClr val="E6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600" y="3162300"/>
            <a:ext cx="2857500" cy="845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200">
                <a:solidFill>
                  <a:srgbClr val="242A24"/>
                </a:solidFill>
                <a:latin typeface="DejaVu Serif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4076699"/>
            <a:ext cx="29972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242A24"/>
                </a:solidFill>
                <a:latin typeface="DejaVu Sans"/>
              </a:defRPr>
            </a:pPr>
            <a:r>
              <a:t>Coordinate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4610100"/>
            <a:ext cx="29972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Track approvals, responsibilities</a:t>
            </a:r>
          </a:p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and follow-ups.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30900"/>
            <a:ext cx="10668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242A24"/>
                </a:solidFill>
                <a:latin typeface="DejaVu Sans"/>
              </a:defRPr>
            </a:pPr>
            <a:r>
              <a:t>EDIT: Turned an unstructured paragraph into three ordered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5D6851"/>
                </a:solidFill>
                <a:latin typeface="DejaVu Sans"/>
              </a:defRPr>
            </a:pPr>
            <a:r>
              <a:t>03 / BEFORE — SIMULATED SOURCE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697066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697066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1176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485900"/>
            <a:ext cx="106680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2600">
                <a:solidFill>
                  <a:srgbClr val="242A24"/>
                </a:solidFill>
                <a:latin typeface="DejaVu Sans"/>
              </a:defRPr>
            </a:pPr>
            <a:r>
              <a:t>Contact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501900"/>
            <a:ext cx="10033000" cy="1242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Please contact us if you are interested and we can discuss your needs</a:t>
            </a:r>
          </a:p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and tell you more about the packages that we can provide for your</a:t>
            </a:r>
          </a:p>
          <a:p>
            <a:pPr>
              <a:defRPr b="0" sz="2200">
                <a:solidFill>
                  <a:srgbClr val="242A24"/>
                </a:solidFill>
                <a:latin typeface="DejaVu Sans"/>
              </a:defRPr>
            </a:pPr>
            <a:r>
              <a:t>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56300"/>
            <a:ext cx="10668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242A24"/>
                </a:solidFill>
                <a:latin typeface="DejaVu Sans"/>
              </a:defRPr>
            </a:pPr>
            <a:r>
              <a:t>Illustrative draft created for this comparison; not a client-supplied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DDE6B8"/>
                </a:solidFill>
                <a:latin typeface="DejaVu Sans"/>
              </a:defRPr>
            </a:pPr>
            <a:r>
              <a:t>03 / AFTER — A SPECIFIC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DDE6B8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DDE6B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7112000" cy="1572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300">
                <a:solidFill>
                  <a:srgbClr val="F4F0E7"/>
                </a:solidFill>
                <a:latin typeface="DejaVu Serif"/>
              </a:defRPr>
            </a:pPr>
            <a:r>
              <a:t>Plan your next</a:t>
            </a:r>
          </a:p>
          <a:p>
            <a:pPr>
              <a:defRPr b="0" sz="4300">
                <a:solidFill>
                  <a:srgbClr val="F4F0E7"/>
                </a:solidFill>
                <a:latin typeface="DejaVu Serif"/>
              </a:defRPr>
            </a:pPr>
            <a:r>
              <a:t>corporate occasion.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11500"/>
            <a:ext cx="6096000" cy="779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900">
                <a:solidFill>
                  <a:srgbClr val="F4F0E7"/>
                </a:solidFill>
                <a:latin typeface="DejaVu Sans"/>
              </a:defRPr>
            </a:pPr>
            <a:r>
              <a:t>Share a short brief to shape</a:t>
            </a:r>
          </a:p>
          <a:p>
            <a:pPr>
              <a:defRPr b="0" sz="1900">
                <a:solidFill>
                  <a:srgbClr val="F4F0E7"/>
                </a:solidFill>
                <a:latin typeface="DejaVu Sans"/>
              </a:defRPr>
            </a:pPr>
            <a:r>
              <a:t>the next conversation.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74000" y="1270000"/>
            <a:ext cx="3708400" cy="3810000"/>
          </a:xfrm>
          <a:prstGeom prst="rect">
            <a:avLst/>
          </a:prstGeom>
          <a:solidFill>
            <a:srgbClr val="5D6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1500" y="1625600"/>
            <a:ext cx="29845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DDE6B8"/>
                </a:solidFill>
                <a:latin typeface="DejaVu Sans"/>
              </a:defRPr>
            </a:pPr>
            <a:r>
              <a:t>YOUR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2336800"/>
            <a:ext cx="5080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DDE6B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4100" y="2336800"/>
            <a:ext cx="26543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F4F0E7"/>
                </a:solidFill>
                <a:latin typeface="DejaVu Sans"/>
              </a:defRPr>
            </a:pPr>
            <a:r>
              <a:t>Occasion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3213100"/>
            <a:ext cx="5080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DDE6B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4100" y="3213100"/>
            <a:ext cx="26543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F4F0E7"/>
                </a:solidFill>
                <a:latin typeface="DejaVu Sans"/>
              </a:defRPr>
            </a:pPr>
            <a:r>
              <a:t>Estimated 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4089400"/>
            <a:ext cx="50800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DDE6B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4100" y="4089400"/>
            <a:ext cx="26543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F4F0E7"/>
                </a:solidFill>
                <a:latin typeface="DejaVu Sans"/>
              </a:defRPr>
            </a:pPr>
            <a:r>
              <a:t>Preferred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394200"/>
            <a:ext cx="4508500" cy="685800"/>
          </a:xfrm>
          <a:prstGeom prst="rect">
            <a:avLst/>
          </a:prstGeom>
          <a:solidFill>
            <a:srgbClr val="DDE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00" y="4597400"/>
            <a:ext cx="4000500" cy="449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242A24"/>
                </a:solidFill>
                <a:latin typeface="DejaVu Sans"/>
              </a:defRPr>
            </a:pPr>
            <a:r>
              <a:t>Start with a clear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842000"/>
            <a:ext cx="10922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F4F0E7"/>
                </a:solidFill>
                <a:latin typeface="DejaVu Sans"/>
              </a:defRPr>
            </a:pPr>
            <a:r>
              <a:t>EDIT: Replaced a vague invitation with specific information to share.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00">
                <a:solidFill>
                  <a:srgbClr val="5D6851"/>
                </a:solidFill>
                <a:latin typeface="DejaVu Sans"/>
              </a:defRPr>
            </a:pPr>
            <a:r>
              <a:t>DESIGN + CONTENT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51600"/>
            <a:ext cx="10668000" cy="30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697066"/>
                </a:solidFill>
                <a:latin typeface="DejaVu Sans"/>
              </a:defRPr>
            </a:pPr>
            <a:r>
              <a:t>HELIN / SELF-INITIATED CONCEPT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0" y="6426200"/>
            <a:ext cx="635000" cy="334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697066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66800"/>
            <a:ext cx="10795000" cy="746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3600">
                <a:solidFill>
                  <a:srgbClr val="242A24"/>
                </a:solidFill>
                <a:latin typeface="DejaVu Serif"/>
              </a:defRPr>
            </a:pPr>
            <a:r>
              <a:t>What changed—and why.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71700"/>
            <a:ext cx="63500" cy="609600"/>
          </a:xfrm>
          <a:prstGeom prst="rect">
            <a:avLst/>
          </a:prstGeom>
          <a:solidFill>
            <a:srgbClr val="5D6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171700"/>
            <a:ext cx="104140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242A24"/>
                </a:solidFill>
                <a:latin typeface="DejaVu Sans"/>
              </a:defRPr>
            </a:pPr>
            <a:r>
              <a:t>Message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514600"/>
            <a:ext cx="104140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Shorter copy preserves the meaning and makes the main point 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086100"/>
            <a:ext cx="63500" cy="609600"/>
          </a:xfrm>
          <a:prstGeom prst="rect">
            <a:avLst/>
          </a:prstGeom>
          <a:solidFill>
            <a:srgbClr val="5D6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000" y="3086100"/>
            <a:ext cx="104140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242A24"/>
                </a:solidFill>
                <a:latin typeface="DejaVu Sans"/>
              </a:defRPr>
            </a:pPr>
            <a:r>
              <a:t>Visual hierarchy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3429000"/>
            <a:ext cx="104140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Headlines lead; cards and process steps organise supporting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000500"/>
            <a:ext cx="63500" cy="609600"/>
          </a:xfrm>
          <a:prstGeom prst="rect">
            <a:avLst/>
          </a:prstGeom>
          <a:solidFill>
            <a:srgbClr val="5D6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000" y="4000500"/>
            <a:ext cx="104140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242A24"/>
                </a:solidFill>
                <a:latin typeface="DejaVu Sans"/>
              </a:defRPr>
            </a:pPr>
            <a:r>
              <a:t>Design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4343400"/>
            <a:ext cx="104140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A restrained palette, clear type scale and aligned spacing connect the slides.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914900"/>
            <a:ext cx="63500" cy="609600"/>
          </a:xfrm>
          <a:prstGeom prst="rect">
            <a:avLst/>
          </a:prstGeom>
          <a:solidFill>
            <a:srgbClr val="5D6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000" y="4914900"/>
            <a:ext cx="10414000" cy="433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700">
                <a:solidFill>
                  <a:srgbClr val="242A24"/>
                </a:solidFill>
                <a:latin typeface="DejaVu Sans"/>
              </a:defRPr>
            </a:pPr>
            <a:r>
              <a:t>Reader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" y="5257800"/>
            <a:ext cx="10414000" cy="367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300">
                <a:solidFill>
                  <a:srgbClr val="242A24"/>
                </a:solidFill>
                <a:latin typeface="DejaVu Sans"/>
              </a:defRPr>
            </a:pPr>
            <a:r>
              <a:t>A specific brief makes the next step easier to understand.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930900"/>
            <a:ext cx="10668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242A24"/>
                </a:solidFill>
                <a:latin typeface="DejaVu Sans"/>
              </a:defRPr>
            </a:pPr>
            <a:r>
              <a:t>Concept sample only. Content and visuals are illustrative; no commercial results asserted.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